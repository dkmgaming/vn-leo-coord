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3200400"/>
          </a:xfrm>
          <a:prstGeom prst="rect">
            <a:avLst/>
          </a:prstGeom>
          <a:noFill/>
        </p:spPr>
        <p:txBody>
          <a:bodyPr wrap="none">
            <a:spAutoFit/>
          </a:bodyPr>
          <a:lstStyle/>
          <a:p>
            <a:pPr>
              <a:defRPr sz="2800" b="1">
                <a:solidFill>
                  <a:srgbClr val="0284C7"/>
                </a:solidFill>
              </a:defRPr>
            </a:pPr>
            <a:r>
              <a:t>CHIẾN LƯỢC QUY HOẠCH &amp; TRIỂN KHAI TRẠM CỔNG VỆ TINH LEO (GATEWAY EARTH STATIONS) TẠI VIỆT NAM</a:t>
            </a:r>
          </a:p>
          <a:p>
            <a:pPr>
              <a:defRPr sz="1600">
                <a:solidFill>
                  <a:srgbClr val="64748B"/>
                </a:solidFill>
              </a:defRPr>
            </a:pPr>
            <a:r>
              <a:t>Định vị vị trí địa lý, Tích hợp Trung tâm Điều hành Mạng (NOC) và Bảo đảm An ninh Phổ tần Quốc gia</a:t>
            </a:r>
          </a:p>
          <a:p>
            <a:pPr>
              <a:defRPr sz="1300">
                <a:solidFill>
                  <a:srgbClr val="475569"/>
                </a:solidFill>
              </a:defRPr>
            </a:pPr>
            <a:r>
              <a:t>Cục Tần số Vô tuyến điện — Viện Công nghệ Vũ trụ | Hội thảo Chuyên đề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914400"/>
            <a:ext cx="10360152" cy="5029200"/>
          </a:xfrm>
          <a:prstGeom prst="rect">
            <a:avLst/>
          </a:prstGeom>
          <a:noFill/>
        </p:spPr>
        <p:txBody>
          <a:bodyPr wrap="none">
            <a:spAutoFit/>
          </a:bodyPr>
          <a:lstStyle/>
          <a:p>
            <a:pPr>
              <a:defRPr sz="2400" b="1">
                <a:solidFill>
                  <a:srgbClr val="0F172A"/>
                </a:solidFill>
              </a:defRPr>
            </a:pPr>
            <a:r>
              <a:t>1. MẠNG LƯỚI TRẠM CỔNG MẶT ĐẤT CHIẾN LƯỢC TẠI 3 MIỀN</a:t>
            </a:r>
          </a:p>
          <a:p>
            <a:pPr>
              <a:spcBef>
                <a:spcPts val="1400"/>
              </a:spcBef>
              <a:defRPr sz="1400">
                <a:solidFill>
                  <a:srgbClr val="334155"/>
                </a:solidFill>
              </a:defRPr>
            </a:pPr>
            <a:r>
              <a:t>• Trạm Cổng Miền Bắc (Hòa Lạc - Hà Nội): Đặt tại Khu Công nghệ cao Hòa Lạc, kết nối cáp quang trực tiếp trục Bắc - Nam, quản lý vùng phủ miền Bắc và biên giới phía Bắc.</a:t>
            </a:r>
          </a:p>
          <a:p>
            <a:pPr>
              <a:spcBef>
                <a:spcPts val="1400"/>
              </a:spcBef>
              <a:defRPr sz="1400">
                <a:solidFill>
                  <a:srgbClr val="334155"/>
                </a:solidFill>
              </a:defRPr>
            </a:pPr>
            <a:r>
              <a:t>• Trạm Cổng Miền Trung (Đà Nẵng): Tận dụng vị trí trung gian ven biển, đóng vai trò trạm kết nối trọng yếu phục vụ vùng phủ Quần đảo Hoàng Sa, Trường Sa và vùng biển đặc quyền kinh tế (EEZ).</a:t>
            </a:r>
          </a:p>
          <a:p>
            <a:pPr>
              <a:spcBef>
                <a:spcPts val="1400"/>
              </a:spcBef>
              <a:defRPr sz="1400">
                <a:solidFill>
                  <a:srgbClr val="334155"/>
                </a:solidFill>
              </a:defRPr>
            </a:pPr>
            <a:r>
              <a:t>• Trạm Cổng Miền Nam (Tân Tạo / Cần Thơ): Quản trị lưu lượng mạng vệ tinh LEO khu vực Đồng bằng Sông Cửu Long, vùng biển phía Nam và kết nối quốc tế qua tuyến cáp quang biển cập bờ.</a:t>
            </a:r>
          </a:p>
          <a:p>
            <a:pPr>
              <a:spcBef>
                <a:spcPts val="1400"/>
              </a:spcBef>
              <a:defRPr sz="1400">
                <a:solidFill>
                  <a:srgbClr val="334155"/>
                </a:solidFill>
              </a:defRPr>
            </a:pPr>
            <a:r>
              <a:t>• Kiến trúc Anten: Mỗi trạm cổng trang bị từ 6 - 8 anten bám tự động búp sóng chuyển động nhanh (Ka-band Tracking Dishes đường kính 1.5m - 2.4m) bảo đảm chuyển vùng không gián đoạn.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